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Mediculus to aplikacja Fundacji na telefon, która towarzyszy pacjentowi pomiędzy wizytami. Pokażę po co powstała, jakie problemy rozwiązuje i jak wygląda w praktyce — na przykładzie konta Kacpra, który korzysta z niej od maja.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Terapia to zwykle jedna godzina w tygodniu, a pozostałe sto sześćdziesiąt siedem pacjent przeżywa sam. Na wizycie pamiętamy głównie ostatnie dni, a emocje i jedzenie są ze sobą mocno powiązane. Mediculus ma zatrzymać te chwile i zamienić je w materiał do rozmowy ze specjalistą.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Całą aplikację da się opisać trzema słowami. Zapisuj — krótko, bez przymusu. Rozumiej — raport i analiza robią się same. Działaj — gotowe techniki i plan na trudne chwile. Korzystają z niej pacjenci, ich specjaliści, a w przypadku osób niepełnoletnich także rodzice.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Codzienny wpis zajmuje około minuty: nastrój i najważniejsze emocje. Kto ma ochotę, dopisuje, co się wydarzyło i co wtedy pomyślał. Strona główna od razu pokazuje ostatni tydzień. Wpisów z przeszłości nie da się zmieniać, dlatego raport dla specjalisty pokazuje to, co naprawdę działo się w danym dniu.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 codziennych wpisów aplikacja sama układa raport tygodniowy: średni nastrój, stres, energia, najsilniejsze emocje i to, co je wywoływało. Analiza z ostatnich tygodni podpowiada, kiedy bywa trudniej. Ważne: aplikacja nikogo nie ocenia — dzień bez wpisu to po prostu brak danych, a nie zły dzień.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Moduł dietetyczny celowo nie liczy kalorii ani gramów — to ważne zwłaszcza dla osób, które mają trudną relację z jedzeniem. Pacjent zapisuje posiłki swoimi słowami i zaznacza, co wtedy czuł. Do tego nawodnienie, sen, aktywność i leki. Raport tygodniowy pokazuje dietetykowi regularność posiłków i emocje przy jedzeniu.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 aplikacji jest katalog technik: umiejętności DBT, ćwiczenia relaksacyjne i piętnaście technik psychodietetycznych przygotowanych przez Fundację. Każda jest opisana krok po kroku. Specjaliści mogą dodawać własne techniki — trafiają od razu do katalogu pacjentów.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najważniejszy ekran z punktu widzenia bezpieczeństwa. Na samej górze są zawsze numery pomocowe — działają dla każdego, niezależnie od planu. Poniżej pacjent tworzy swój plan bezpieczeństwa: sygnały ostrzegawcze, sposoby radzenia sobie i osoby, do których może się odezwać. Warto ułożyć go razem ze specjalistą na wizycie.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Specjalista ma własny panel. Widzi w nim swoich pacjentów i ich raporty tygodniowe — ale tylko wtedy, gdy pacjent sam przyjmie zaproszenie. Psychoterapeuta widzi część psychoterapeutyczną, dietetyk dietetyczną. Rodzic potwierdza konto dziecka i widzi, że dziecko korzysta z aplikacji, ale treść wpisów zostaje prywatna.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Dane o zdrowiu wymagają szczególnej ochrony, dlatego zbudowaliśmy to w aplikację od początku. Bez zgód konto po prostu nie działa. Wpisy są trzymane oddzielnie od danych osobowych. O dostępie specjalisty decyduje pacjent. Konto dziecka wymaga potwierdzenia rodzica. Usunięcie konta usuwa wszystko, a administrator nie ma wglądu w treść wpisów.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 wygląda zwykły tydzień. Codziennie minuta na wpis, przy okazji posiłki i sen. Kiedy przychodzi trudny wieczór — technika albo plan bezpieczeństwa. Na koniec tygodnia raport robi się sam, a wizyta zaczyna się od konkretów, nie od próby przypomnienia sobie ostatnich dni.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Dziękuję. Teraz proponuję przejść przez aplikację na żywo — na koncie Kacpra widać, jak wygląda po kilku miesiącach codziennego używania.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F7A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737360" cy="1737360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debian/.cache/mediculus-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Mediculus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79476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Codzienne wsparcie między wizytami u specjalisty — dla pacjentów, ich terapeutów, dietetyków i rodzin.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989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Fundacja Mediculus  ·  prezentacja aplikacji  ·  wrzesień 2026</a:t>
            </a:r>
            <a:endParaRPr lang="en-US" sz="1300" dirty="0"/>
          </a:p>
        </p:txBody>
      </p:sp>
      <p:pic>
        <p:nvPicPr>
          <p:cNvPr id="7" name="Image 1" descr="/home/debian/.cache/mediculus-deck/phones/02-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502920"/>
            <a:ext cx="2786528" cy="5852160"/>
          </a:xfrm>
          <a:prstGeom prst="rect">
            <a:avLst/>
          </a:prstGeom>
          <a:effectLst>
            <a:outerShdw sx="100000" sy="100000" kx="0" ky="0" algn="bl" rotWithShape="0" blurRad="152400" dist="63500" dir="540000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CO TA APLIKACJA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C3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Najwięcej dzieje się między wizytami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931920" cy="4114800"/>
          </a:xfrm>
          <a:prstGeom prst="roundRect">
            <a:avLst>
              <a:gd name="adj" fmla="val 4651"/>
            </a:avLst>
          </a:prstGeom>
          <a:solidFill>
            <a:srgbClr val="F0EDF6"/>
          </a:solidFill>
          <a:ln w="12700">
            <a:solidFill>
              <a:srgbClr val="F0ED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33172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4F7A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167</a:t>
            </a:r>
            <a:endParaRPr lang="en-US" sz="9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8862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C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godzin w tygodniu pacjent przeżywa sam. Wizyta u specjalisty to zwykle jedna.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0749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 tych godzinach pojawiają się emocje, decyzje i trudne chwile, o których potem trudno opowiedzieć.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120640" y="2103120"/>
            <a:ext cx="566928" cy="566928"/>
          </a:xfrm>
          <a:prstGeom prst="ellipse">
            <a:avLst/>
          </a:prstGeom>
          <a:solidFill>
            <a:srgbClr val="DCE9E1"/>
          </a:solidFill>
          <a:ln w="12700">
            <a:solidFill>
              <a:srgbClr val="DCE9E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6944" y="2249424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870448" y="2066544"/>
            <a:ext cx="5650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C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Pamięć zawodzi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wizycie trudno odtworzyć, jak naprawdę wyglądał cały tydzień.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120640" y="3127248"/>
            <a:ext cx="566928" cy="566928"/>
          </a:xfrm>
          <a:prstGeom prst="ellipse">
            <a:avLst/>
          </a:prstGeom>
          <a:solidFill>
            <a:srgbClr val="DCE9E1"/>
          </a:solidFill>
          <a:ln w="12700">
            <a:solidFill>
              <a:srgbClr val="DCE9E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944" y="327355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870448" y="3090672"/>
            <a:ext cx="5650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C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Emocje i jedzenie idą w parze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Stres, smutek czy nuda często kończą się podjadaniem.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5120640" y="4151376"/>
            <a:ext cx="566928" cy="566928"/>
          </a:xfrm>
          <a:prstGeom prst="ellipse">
            <a:avLst/>
          </a:prstGeom>
          <a:solidFill>
            <a:srgbClr val="DCE9E1"/>
          </a:solidFill>
          <a:ln w="12700">
            <a:solidFill>
              <a:srgbClr val="DCE9E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944" y="42976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870448" y="4114800"/>
            <a:ext cx="5650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C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Trudne chwile przychodzą nagle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Często wieczorem albo w nocy, kiedy nikogo nie ma obok.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5120640" y="5175504"/>
            <a:ext cx="566928" cy="566928"/>
          </a:xfrm>
          <a:prstGeom prst="ellipse">
            <a:avLst/>
          </a:prstGeom>
          <a:solidFill>
            <a:srgbClr val="DCE9E1"/>
          </a:solidFill>
          <a:ln w="12700">
            <a:solidFill>
              <a:srgbClr val="DCE9E1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6944" y="5321808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870448" y="5138928"/>
            <a:ext cx="5650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C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Specjalista widzi tylko fragment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 to, co pacjent zdąży i odważy się opowiedzieć w gabinecie.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ROZWIĄZANIE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C3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Zapisuj, rozumiej, działaj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74720" cy="251460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731520" cy="731520"/>
          </a:xfrm>
          <a:prstGeom prst="ellipse">
            <a:avLst/>
          </a:prstGeom>
          <a:solidFill>
            <a:srgbClr val="4F7A64"/>
          </a:solidFill>
          <a:ln w="12700">
            <a:solidFill>
              <a:srgbClr val="4F7A6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3774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Zapisuj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52044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Krótki wpis o nastroju, emocjach i posiłkach — tyle, ile masz siły. Nic nie jest obowiązkowe.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61688" y="1920240"/>
            <a:ext cx="3474720" cy="251460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81728" y="2194560"/>
            <a:ext cx="731520" cy="731520"/>
          </a:xfrm>
          <a:prstGeom prst="ellipse">
            <a:avLst/>
          </a:prstGeom>
          <a:solidFill>
            <a:srgbClr val="4F7A64"/>
          </a:solidFill>
          <a:ln w="12700">
            <a:solidFill>
              <a:srgbClr val="4F7A6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3774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81728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Rozumiej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681728" y="352044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tydzień aplikacja sama układa raport i pokazuje, kiedy bywa trudniej.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83296" y="1920240"/>
            <a:ext cx="3474720" cy="251460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03336" y="2194560"/>
            <a:ext cx="731520" cy="731520"/>
          </a:xfrm>
          <a:prstGeom prst="ellipse">
            <a:avLst/>
          </a:prstGeom>
          <a:solidFill>
            <a:srgbClr val="4F7A64"/>
          </a:solidFill>
          <a:ln w="12700">
            <a:solidFill>
              <a:srgbClr val="4F7A6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216" y="23774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03336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Działaj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8403336" y="352044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Techniki na trudne chwile, osobisty plan bezpieczeństwa i numery pomocowe pod ręką.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4754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 KOGO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80" y="521208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535838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89888" y="5175504"/>
            <a:ext cx="2816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C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Pacjenci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dorośli i młodzież</a:t>
            </a:r>
            <a:endParaRPr lang="en-US" sz="1700" dirty="0"/>
          </a:p>
        </p:txBody>
      </p:sp>
      <p:sp>
        <p:nvSpPr>
          <p:cNvPr id="23" name="Shape 17"/>
          <p:cNvSpPr/>
          <p:nvPr/>
        </p:nvSpPr>
        <p:spPr>
          <a:xfrm>
            <a:off x="4361688" y="521208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992" y="5358384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111496" y="5175504"/>
            <a:ext cx="2816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C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Specjaliści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psychoterapeuci i psychodietetycy</a:t>
            </a:r>
            <a:endParaRPr lang="en-US" sz="1700" dirty="0"/>
          </a:p>
        </p:txBody>
      </p:sp>
      <p:sp>
        <p:nvSpPr>
          <p:cNvPr id="26" name="Shape 19"/>
          <p:cNvSpPr/>
          <p:nvPr/>
        </p:nvSpPr>
        <p:spPr>
          <a:xfrm>
            <a:off x="8083296" y="521208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5358384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8833104" y="5175504"/>
            <a:ext cx="2816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C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Rodzice i opiekunowie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osób niepełnoletnich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PSYCHOTERAPIA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C3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Dzienniczek emocji — minuta dziennie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66928" cy="566928"/>
          </a:xfrm>
          <a:prstGeom prst="ellipse">
            <a:avLst/>
          </a:prstGeom>
          <a:solidFill>
            <a:srgbClr val="DCE9E1"/>
          </a:solidFill>
          <a:ln w="12700">
            <a:solidFill>
              <a:srgbClr val="DCE9E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2494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89888" y="2066544"/>
            <a:ext cx="5010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C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Nastrój jednym dotknięciem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Pięć stopni od „bardzo źle” do „bardzo dobrze” i emocje z siłą na suwaku.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40080" y="3127248"/>
            <a:ext cx="566928" cy="566928"/>
          </a:xfrm>
          <a:prstGeom prst="ellipse">
            <a:avLst/>
          </a:prstGeom>
          <a:solidFill>
            <a:srgbClr val="DCE9E1"/>
          </a:solidFill>
          <a:ln w="12700">
            <a:solidFill>
              <a:srgbClr val="DCE9E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3273552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89888" y="3090672"/>
            <a:ext cx="5010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C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Szczegóły tylko wtedy, gdy chcesz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Sytuacja, myśl, reakcja i własne notatki — pole po polu, bez presji.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640080" y="4151376"/>
            <a:ext cx="566928" cy="566928"/>
          </a:xfrm>
          <a:prstGeom prst="ellipse">
            <a:avLst/>
          </a:prstGeom>
          <a:solidFill>
            <a:srgbClr val="DCE9E1"/>
          </a:solidFill>
          <a:ln w="12700">
            <a:solidFill>
              <a:srgbClr val="DCE9E1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429768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89888" y="4114800"/>
            <a:ext cx="5010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C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Zachowania ryzykowne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Można je oznaczyć, żeby specjalista wiedział, że był trudny dzień.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640080" y="5175504"/>
            <a:ext cx="566928" cy="566928"/>
          </a:xfrm>
          <a:prstGeom prst="ellipse">
            <a:avLst/>
          </a:prstGeom>
          <a:solidFill>
            <a:srgbClr val="DCE9E1"/>
          </a:solidFill>
          <a:ln w="12700">
            <a:solidFill>
              <a:srgbClr val="DCE9E1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5321808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89888" y="5138928"/>
            <a:ext cx="5010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C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jest wiarygodna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Wpis można poprawiać tylko w dniu, w którym powstał.</a:t>
            </a:r>
            <a:endParaRPr lang="en-US" sz="1700" dirty="0"/>
          </a:p>
        </p:txBody>
      </p:sp>
      <p:pic>
        <p:nvPicPr>
          <p:cNvPr id="16" name="Image 4" descr="/home/debian/.cache/mediculus-deck/phones/02-hom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731520"/>
            <a:ext cx="2568831" cy="5394960"/>
          </a:xfrm>
          <a:prstGeom prst="rect">
            <a:avLst/>
          </a:prstGeom>
          <a:effectLst>
            <a:outerShdw sx="100000" sy="100000" kx="0" ky="0" algn="bl" rotWithShape="0" blurRad="152400" dist="63500" dir="5400000">
              <a:srgbClr val="000000">
                <a:alpha val="25000"/>
              </a:srgbClr>
            </a:outerShdw>
          </a:effectLst>
        </p:spPr>
      </p:pic>
      <p:pic>
        <p:nvPicPr>
          <p:cNvPr id="17" name="Image 5" descr="/home/debian/.cache/mediculus-deck/phones/03-diar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8280" y="731520"/>
            <a:ext cx="2568831" cy="5394960"/>
          </a:xfrm>
          <a:prstGeom prst="rect">
            <a:avLst/>
          </a:prstGeom>
          <a:effectLst>
            <a:outerShdw sx="100000" sy="100000" kx="0" ky="0" algn="bl" rotWithShape="0" blurRad="152400" dist="63500" dir="540000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debian/.cache/mediculus-deck/phones/05-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85800"/>
            <a:ext cx="2655910" cy="5577840"/>
          </a:xfrm>
          <a:prstGeom prst="rect">
            <a:avLst/>
          </a:prstGeom>
          <a:effectLst>
            <a:outerShdw sx="100000" sy="100000" kx="0" ky="0" algn="bl" rotWithShape="0" blurRad="152400" dist="63500" dir="5400000">
              <a:srgbClr val="000000">
                <a:alpha val="25000"/>
              </a:srgbClr>
            </a:outerShdw>
          </a:effectLst>
        </p:spPr>
      </p:pic>
      <p:pic>
        <p:nvPicPr>
          <p:cNvPr id="3" name="Image 1" descr="/home/debian/.cache/mediculus-deck/phones/06-analys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685800"/>
            <a:ext cx="2655910" cy="5577840"/>
          </a:xfrm>
          <a:prstGeom prst="rect">
            <a:avLst/>
          </a:prstGeom>
          <a:effectLst>
            <a:outerShdw sx="100000" sy="100000" kx="0" ky="0" algn="bl" rotWithShape="0" blurRad="152400" dist="63500" dir="5400000">
              <a:srgbClr val="000000">
                <a:alpha val="25000"/>
              </a:srgbClr>
            </a:outerShdw>
          </a:effectLst>
        </p:spPr>
      </p:pic>
      <p:sp>
        <p:nvSpPr>
          <p:cNvPr id="4" name="Text 0"/>
          <p:cNvSpPr txBox="1"/>
          <p:nvPr/>
        </p:nvSpPr>
        <p:spPr>
          <a:xfrm>
            <a:off x="603504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RAPORTY I ANALIZA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6035040" y="100584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C3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Raport tygodniowy robi się sam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6035040" y="23774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2523744"/>
            <a:ext cx="274320" cy="2743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784848" y="2340864"/>
            <a:ext cx="4828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C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tydzień, automatycznie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 nie trzeba uzupełniać ani o niczym pamiętać.</a:t>
            </a:r>
            <a:endParaRPr lang="en-US" sz="1700" dirty="0"/>
          </a:p>
        </p:txBody>
      </p:sp>
      <p:sp>
        <p:nvSpPr>
          <p:cNvPr id="9" name="Shape 4"/>
          <p:cNvSpPr/>
          <p:nvPr/>
        </p:nvSpPr>
        <p:spPr>
          <a:xfrm>
            <a:off x="6035040" y="32918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3438144"/>
            <a:ext cx="274320" cy="27432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6784848" y="3255264"/>
            <a:ext cx="4828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C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Widać zmianę, nie tylko stan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Nastrój, stres i energia w porównaniu z poprzednim tygodniem.</a:t>
            </a:r>
            <a:endParaRPr lang="en-US" sz="1700" dirty="0"/>
          </a:p>
        </p:txBody>
      </p:sp>
      <p:sp>
        <p:nvSpPr>
          <p:cNvPr id="12" name="Shape 6"/>
          <p:cNvSpPr/>
          <p:nvPr/>
        </p:nvSpPr>
        <p:spPr>
          <a:xfrm>
            <a:off x="6035040" y="42062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4352544"/>
            <a:ext cx="274320" cy="27432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6784848" y="4169664"/>
            <a:ext cx="4828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C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Wzorce zamiast zgadywania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pokazuje, w które dni i o jakiej porze bywa trudniej.</a:t>
            </a:r>
            <a:endParaRPr lang="en-US" sz="1700" dirty="0"/>
          </a:p>
        </p:txBody>
      </p:sp>
      <p:sp>
        <p:nvSpPr>
          <p:cNvPr id="15" name="Shape 8"/>
          <p:cNvSpPr/>
          <p:nvPr/>
        </p:nvSpPr>
        <p:spPr>
          <a:xfrm>
            <a:off x="6035040" y="51206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344" y="5266944"/>
            <a:ext cx="274320" cy="27432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6784848" y="5084064"/>
            <a:ext cx="4828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C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Gotowe na wizytę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Raport można pobrać jako PDF i omówić ze specjalistą.</a:t>
            </a:r>
            <a:endParaRPr lang="en-US" sz="1700" dirty="0"/>
          </a:p>
        </p:txBody>
      </p:sp>
      <p:sp>
        <p:nvSpPr>
          <p:cNvPr id="18" name="Text 10"/>
          <p:cNvSpPr txBox="1"/>
          <p:nvPr/>
        </p:nvSpPr>
        <p:spPr>
          <a:xfrm>
            <a:off x="6035040" y="60350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Dni bez wpisu nie są liczone jako „gorsze” — po prostu ich tu nie ma.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DIETETYKA I PSYCHODIETETYKA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C3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Relacja z jedzeniem, a nie liczenie kalorii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C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Pacjent zapisuje, co i kiedy zjadł, własnymi słowami — bez gramów, porcji i kalorii. Liczy się to, co działo się wokół jedzenia.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2788920" cy="1234440"/>
          </a:xfrm>
          <a:prstGeom prst="roundRect">
            <a:avLst>
              <a:gd name="adj" fmla="val 11111"/>
            </a:avLst>
          </a:prstGeom>
          <a:solidFill>
            <a:srgbClr val="F0EDF6"/>
          </a:solidFill>
          <a:ln w="12700">
            <a:solidFill>
              <a:srgbClr val="F0ED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322783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3374136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91056" y="3191256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C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Posiłki i emocje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towarzyszyło jedzeniu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566160" y="2926080"/>
            <a:ext cx="2788920" cy="1234440"/>
          </a:xfrm>
          <a:prstGeom prst="roundRect">
            <a:avLst>
              <a:gd name="adj" fmla="val 11111"/>
            </a:avLst>
          </a:prstGeom>
          <a:solidFill>
            <a:srgbClr val="F0EDF6"/>
          </a:solidFill>
          <a:ln w="12700">
            <a:solidFill>
              <a:srgbClr val="F0ED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67328" y="322783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32" y="337413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17136" y="3191256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C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Nawodnienie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szklanka jednym dotknięciem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40080" y="4343400"/>
            <a:ext cx="2788920" cy="1234440"/>
          </a:xfrm>
          <a:prstGeom prst="roundRect">
            <a:avLst>
              <a:gd name="adj" fmla="val 11111"/>
            </a:avLst>
          </a:prstGeom>
          <a:solidFill>
            <a:srgbClr val="F0EDF6"/>
          </a:solidFill>
          <a:ln w="12700">
            <a:solidFill>
              <a:srgbClr val="F0EDF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41248" y="464515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79145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91056" y="4608576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C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 i aktywność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jakość snu i ruch w ciągu dnia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3566160" y="4343400"/>
            <a:ext cx="2788920" cy="1234440"/>
          </a:xfrm>
          <a:prstGeom prst="roundRect">
            <a:avLst>
              <a:gd name="adj" fmla="val 11111"/>
            </a:avLst>
          </a:prstGeom>
          <a:solidFill>
            <a:srgbClr val="F0EDF6"/>
          </a:solidFill>
          <a:ln w="12700">
            <a:solidFill>
              <a:srgbClr val="F0EDF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767328" y="464515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632" y="4791456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517136" y="4608576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C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Leki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odhaczanie o stałej porze</a:t>
            </a:r>
            <a:endParaRPr lang="en-US" sz="1500" dirty="0"/>
          </a:p>
        </p:txBody>
      </p:sp>
      <p:pic>
        <p:nvPicPr>
          <p:cNvPr id="21" name="Image 4" descr="/home/debian/.cache/mediculus-deck/phones/09-diet-hom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731520"/>
            <a:ext cx="2568831" cy="5394960"/>
          </a:xfrm>
          <a:prstGeom prst="rect">
            <a:avLst/>
          </a:prstGeom>
          <a:effectLst>
            <a:outerShdw sx="100000" sy="100000" kx="0" ky="0" algn="bl" rotWithShape="0" blurRad="152400" dist="63500" dir="5400000">
              <a:srgbClr val="000000">
                <a:alpha val="25000"/>
              </a:srgbClr>
            </a:outerShdw>
          </a:effectLst>
        </p:spPr>
      </p:pic>
      <p:pic>
        <p:nvPicPr>
          <p:cNvPr id="22" name="Image 5" descr="/home/debian/.cache/mediculus-deck/phones/12-diet-repo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8280" y="731520"/>
            <a:ext cx="2568831" cy="5394960"/>
          </a:xfrm>
          <a:prstGeom prst="rect">
            <a:avLst/>
          </a:prstGeom>
          <a:effectLst>
            <a:outerShdw sx="100000" sy="100000" kx="0" ky="0" algn="bl" rotWithShape="0" blurRad="152400" dist="63500" dir="540000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debian/.cache/mediculus-deck/phones/07-techniqu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85800"/>
            <a:ext cx="2655910" cy="5577840"/>
          </a:xfrm>
          <a:prstGeom prst="rect">
            <a:avLst/>
          </a:prstGeom>
          <a:effectLst>
            <a:outerShdw sx="100000" sy="100000" kx="0" ky="0" algn="bl" rotWithShape="0" blurRad="152400" dist="63500" dir="5400000">
              <a:srgbClr val="000000">
                <a:alpha val="25000"/>
              </a:srgbClr>
            </a:outerShdw>
          </a:effectLst>
        </p:spPr>
      </p:pic>
      <p:pic>
        <p:nvPicPr>
          <p:cNvPr id="3" name="Image 1" descr="/home/debian/.cache/mediculus-deck/phones/14-diet-techniqu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685800"/>
            <a:ext cx="2655910" cy="5577840"/>
          </a:xfrm>
          <a:prstGeom prst="rect">
            <a:avLst/>
          </a:prstGeom>
          <a:effectLst>
            <a:outerShdw sx="100000" sy="100000" kx="0" ky="0" algn="bl" rotWithShape="0" blurRad="152400" dist="63500" dir="5400000">
              <a:srgbClr val="000000">
                <a:alpha val="25000"/>
              </a:srgbClr>
            </a:outerShdw>
          </a:effectLst>
        </p:spPr>
      </p:pic>
      <p:sp>
        <p:nvSpPr>
          <p:cNvPr id="4" name="Text 0"/>
          <p:cNvSpPr txBox="1"/>
          <p:nvPr/>
        </p:nvSpPr>
        <p:spPr>
          <a:xfrm>
            <a:off x="603504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TECHNIKI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6035040" y="100584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C3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Gotowe sposoby na trudne chwile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6035040" y="2148840"/>
            <a:ext cx="557784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263640" y="2258568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F7A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400" dirty="0"/>
          </a:p>
        </p:txBody>
      </p:sp>
      <p:sp>
        <p:nvSpPr>
          <p:cNvPr id="8" name="Text 4"/>
          <p:cNvSpPr txBox="1"/>
          <p:nvPr/>
        </p:nvSpPr>
        <p:spPr>
          <a:xfrm>
            <a:off x="7498080" y="231343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 terapeutycznych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umiejętności DBT i ćwiczenia relaksacyjne, krok po kroku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6035040" y="3474720"/>
            <a:ext cx="557784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263640" y="3584448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F7A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400" dirty="0"/>
          </a:p>
        </p:txBody>
      </p:sp>
      <p:sp>
        <p:nvSpPr>
          <p:cNvPr id="11" name="Text 7"/>
          <p:cNvSpPr txBox="1"/>
          <p:nvPr/>
        </p:nvSpPr>
        <p:spPr>
          <a:xfrm>
            <a:off x="7498080" y="363931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 psychodietetycznych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 HALT, uważne jedzenie, technika odraczania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6035040" y="4800600"/>
            <a:ext cx="557784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63640" y="4910328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F7A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4400" dirty="0"/>
          </a:p>
        </p:txBody>
      </p:sp>
      <p:sp>
        <p:nvSpPr>
          <p:cNvPr id="14" name="Text 10"/>
          <p:cNvSpPr txBox="1"/>
          <p:nvPr/>
        </p:nvSpPr>
        <p:spPr>
          <a:xfrm>
            <a:off x="7498080" y="496519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techniki od specjalistów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specjalista dodaje własne — pacjenci widzą je od razu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6035040" y="61264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 nie jest dobierane automatycznie — wybór techniki należy do pacjenta i specjalisty.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E61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C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BEZPIECZEŃSTWO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Gdy jest naprawdę trudno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2494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89888" y="2066544"/>
            <a:ext cx="5010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Numery pomocowe zawsze na wierzchu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DC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Całodobowe i bezpłatne, także telefony dla dzieci i młodzieży — jednym dotknięciem.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40080" y="3127248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3273552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89888" y="3090672"/>
            <a:ext cx="5010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Osobisty plan bezpieczeństwa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DC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Pisany własnymi słowami: co zapowiada gorszy czas, co pomaga, do kogo się odezwać.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640080" y="4151376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429768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89888" y="4114800"/>
            <a:ext cx="5010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trudny wieczór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DC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i techniki są pod ręką w chwili, gdy gabinet jest zamknięty.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640080" y="5175504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5321808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89888" y="5138928"/>
            <a:ext cx="5010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Wsparcie, nie zastępstwo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DC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Aplikacja nie zastępuje pomocy specjalisty — prowadzi do niej.</a:t>
            </a:r>
            <a:endParaRPr lang="en-US" sz="1700" dirty="0"/>
          </a:p>
        </p:txBody>
      </p:sp>
      <p:pic>
        <p:nvPicPr>
          <p:cNvPr id="16" name="Image 4" descr="/home/debian/.cache/mediculus-deck/phones/08-safety-lin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731520"/>
            <a:ext cx="2568831" cy="5394960"/>
          </a:xfrm>
          <a:prstGeom prst="rect">
            <a:avLst/>
          </a:prstGeom>
          <a:effectLst>
            <a:outerShdw sx="100000" sy="100000" kx="0" ky="0" algn="bl" rotWithShape="0" blurRad="152400" dist="63500" dir="5400000">
              <a:srgbClr val="000000">
                <a:alpha val="25000"/>
              </a:srgbClr>
            </a:outerShdw>
          </a:effectLst>
        </p:spPr>
      </p:pic>
      <p:pic>
        <p:nvPicPr>
          <p:cNvPr id="17" name="Image 5" descr="/home/debian/.cache/mediculus-deck/phones/08b-safety-pl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8280" y="731520"/>
            <a:ext cx="2568831" cy="5394960"/>
          </a:xfrm>
          <a:prstGeom prst="rect">
            <a:avLst/>
          </a:prstGeom>
          <a:effectLst>
            <a:outerShdw sx="100000" sy="100000" kx="0" ky="0" algn="bl" rotWithShape="0" blurRad="152400" dist="63500" dir="540000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debian/.cache/mediculus-deck/phones/15-specia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85800"/>
            <a:ext cx="2655910" cy="5577840"/>
          </a:xfrm>
          <a:prstGeom prst="rect">
            <a:avLst/>
          </a:prstGeom>
          <a:effectLst>
            <a:outerShdw sx="100000" sy="100000" kx="0" ky="0" algn="bl" rotWithShape="0" blurRad="152400" dist="63500" dir="5400000">
              <a:srgbClr val="000000">
                <a:alpha val="25000"/>
              </a:srgbClr>
            </a:outerShdw>
          </a:effectLst>
        </p:spPr>
      </p:pic>
      <p:pic>
        <p:nvPicPr>
          <p:cNvPr id="3" name="Image 1" descr="/home/debian/.cache/mediculus-deck/phones/16-specialist-rep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685800"/>
            <a:ext cx="2655910" cy="5577840"/>
          </a:xfrm>
          <a:prstGeom prst="rect">
            <a:avLst/>
          </a:prstGeom>
          <a:effectLst>
            <a:outerShdw sx="100000" sy="100000" kx="0" ky="0" algn="bl" rotWithShape="0" blurRad="152400" dist="63500" dir="5400000">
              <a:srgbClr val="000000">
                <a:alpha val="25000"/>
              </a:srgbClr>
            </a:outerShdw>
          </a:effectLst>
        </p:spPr>
      </p:pic>
      <p:sp>
        <p:nvSpPr>
          <p:cNvPr id="4" name="Text 0"/>
          <p:cNvSpPr txBox="1"/>
          <p:nvPr/>
        </p:nvSpPr>
        <p:spPr>
          <a:xfrm>
            <a:off x="603504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SPECJALISTA I OPIEKUN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6035040" y="100584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C3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Specjalista widzi to, co ważne — za zgodą pacjenta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6035040" y="2194560"/>
            <a:ext cx="5577840" cy="2331720"/>
          </a:xfrm>
          <a:prstGeom prst="roundRect">
            <a:avLst>
              <a:gd name="adj" fmla="val 5882"/>
            </a:avLst>
          </a:prstGeom>
          <a:solidFill>
            <a:srgbClr val="F0EDF6"/>
          </a:solidFill>
          <a:ln w="12700">
            <a:solidFill>
              <a:srgbClr val="F0EDF6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263640" y="2395728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2542032"/>
            <a:ext cx="274320" cy="2743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013448" y="2359152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C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Specjalista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endParaRPr lang="en-US" sz="1700" dirty="0"/>
          </a:p>
        </p:txBody>
      </p:sp>
      <p:sp>
        <p:nvSpPr>
          <p:cNvPr id="10" name="Text 5"/>
          <p:cNvSpPr txBox="1"/>
          <p:nvPr/>
        </p:nvSpPr>
        <p:spPr>
          <a:xfrm>
            <a:off x="6263640" y="3063240"/>
            <a:ext cx="5166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C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widzi raporty tygodniowe pacjentów, którzy przyjęli jego zaproszenie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C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psychoterapeuta i dietetyk — każdy tylko swoją część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C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wizytę przychodzi przygotowany, z konkretami z całego tygodnia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6035040" y="4709160"/>
            <a:ext cx="5577840" cy="1783080"/>
          </a:xfrm>
          <a:prstGeom prst="roundRect">
            <a:avLst>
              <a:gd name="adj" fmla="val 7692"/>
            </a:avLst>
          </a:prstGeom>
          <a:solidFill>
            <a:srgbClr val="F0EDF6"/>
          </a:solidFill>
          <a:ln w="12700">
            <a:solidFill>
              <a:srgbClr val="F0EDF6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6263640" y="4910328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5056632"/>
            <a:ext cx="274320" cy="2743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013448" y="4873752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C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Rodzic lub opiekun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6263640" y="5577840"/>
            <a:ext cx="5166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C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potwierdza konto dziecka — bez tego konto nie działa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C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widzi, czy dziecko korzysta z aplikacji, ale nie czyta jego wpisów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PRYWATNOŚĆ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C3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Zaufanie od pierwszego dnia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7472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640080" cy="640080"/>
          </a:xfrm>
          <a:prstGeom prst="ellipse">
            <a:avLst/>
          </a:prstGeom>
          <a:solidFill>
            <a:srgbClr val="4F7A64"/>
          </a:solidFill>
          <a:ln w="12700">
            <a:solidFill>
              <a:srgbClr val="4F7A6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3957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Zgody RODO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3375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Konto działa po wyrażeniu zgód, które można wycofać w każdej chwili.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61688" y="1965960"/>
            <a:ext cx="347472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36008" y="2240280"/>
            <a:ext cx="640080" cy="640080"/>
          </a:xfrm>
          <a:prstGeom prst="ellipse">
            <a:avLst/>
          </a:prstGeom>
          <a:solidFill>
            <a:srgbClr val="4F7A64"/>
          </a:solidFill>
          <a:ln w="12700">
            <a:solidFill>
              <a:srgbClr val="4F7A6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3957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36008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Dane medyczne osobno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36008" y="33375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Wpisy są przechowywane oddzielnie od imienia i adresu e-mail.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83296" y="1965960"/>
            <a:ext cx="347472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2240280"/>
            <a:ext cx="640080" cy="640080"/>
          </a:xfrm>
          <a:prstGeom prst="ellipse">
            <a:avLst/>
          </a:prstGeom>
          <a:solidFill>
            <a:srgbClr val="4F7A64"/>
          </a:solidFill>
          <a:ln w="12700">
            <a:solidFill>
              <a:srgbClr val="4F7A6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239572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7616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Pacjent decyduje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57616" y="33375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Specjalista widzi raporty tylko po przyjęciu zaproszenia.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4206240"/>
            <a:ext cx="347472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480560"/>
            <a:ext cx="640080" cy="640080"/>
          </a:xfrm>
          <a:prstGeom prst="ellipse">
            <a:avLst/>
          </a:prstGeom>
          <a:solidFill>
            <a:srgbClr val="4F7A64"/>
          </a:solidFill>
          <a:ln w="12700">
            <a:solidFill>
              <a:srgbClr val="4F7A64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463600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4400" y="5212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Małoletni z opiekunem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914400" y="55778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Konto dziecka działa dopiero po potwierdzeniu przez rodzica.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361688" y="4206240"/>
            <a:ext cx="347472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36008" y="4480560"/>
            <a:ext cx="640080" cy="640080"/>
          </a:xfrm>
          <a:prstGeom prst="ellipse">
            <a:avLst/>
          </a:prstGeom>
          <a:solidFill>
            <a:srgbClr val="4F7A64"/>
          </a:solidFill>
          <a:ln w="12700">
            <a:solidFill>
              <a:srgbClr val="4F7A64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463600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36008" y="5212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Prawo do usunięcia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4636008" y="55778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Usunięcie konta trwale usuwa wszystkie zapisane dane.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083296" y="4206240"/>
            <a:ext cx="347472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57616" y="4480560"/>
            <a:ext cx="640080" cy="640080"/>
          </a:xfrm>
          <a:prstGeom prst="ellipse">
            <a:avLst/>
          </a:prstGeom>
          <a:solidFill>
            <a:srgbClr val="4F7A64"/>
          </a:solidFill>
          <a:ln w="12700">
            <a:solidFill>
              <a:srgbClr val="4F7A64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3064" y="4636008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57616" y="5212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Poufność wpisów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8357616" y="55778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widzi tylko ogólne statystyki, nigdy treść wpisów.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PRAKTYCE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C3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Tydzień z Mediculusem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554480" y="2697480"/>
            <a:ext cx="9098280" cy="0"/>
          </a:xfrm>
          <a:prstGeom prst="line">
            <a:avLst/>
          </a:prstGeom>
          <a:noFill/>
          <a:ln w="50800">
            <a:solidFill>
              <a:srgbClr val="DCE9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286000"/>
            <a:ext cx="822960" cy="822960"/>
          </a:xfrm>
          <a:prstGeom prst="ellipse">
            <a:avLst/>
          </a:prstGeom>
          <a:solidFill>
            <a:srgbClr val="4F7A64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2496312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3291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Każdego dnia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37033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Krótki wpis wieczorem — nastrój i emocje, 1–2 minuty.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17570" y="2286000"/>
            <a:ext cx="822960" cy="822960"/>
          </a:xfrm>
          <a:prstGeom prst="ellipse">
            <a:avLst/>
          </a:prstGeom>
          <a:solidFill>
            <a:srgbClr val="4F7A64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882" y="249631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68930" y="3291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Przy okazji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2868930" y="37033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Posiłki, woda i sen, kiedy jest chwila.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692140" y="2286000"/>
            <a:ext cx="822960" cy="822960"/>
          </a:xfrm>
          <a:prstGeom prst="ellipse">
            <a:avLst/>
          </a:prstGeom>
          <a:solidFill>
            <a:srgbClr val="4F7A64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452" y="2496312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43500" y="3291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Trudny wieczór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5143500" y="37033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Technika z katalogu albo własny plan bezpieczeństwa.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7966710" y="2286000"/>
            <a:ext cx="822960" cy="822960"/>
          </a:xfrm>
          <a:prstGeom prst="ellipse">
            <a:avLst/>
          </a:prstGeom>
          <a:solidFill>
            <a:srgbClr val="4F7A64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7022" y="249631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418070" y="3291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Koniec tygodnia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7418070" y="37033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Raport tworzy się sam — pacjent widzi go od razu.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10241280" y="2286000"/>
            <a:ext cx="822960" cy="822960"/>
          </a:xfrm>
          <a:prstGeom prst="ellipse">
            <a:avLst/>
          </a:prstGeom>
          <a:solidFill>
            <a:srgbClr val="E0B45C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1592" y="2496312"/>
            <a:ext cx="402336" cy="40233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692640" y="3291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Wizyta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9692640" y="37033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Rozmowa o konkretach z raportu, a nie z pamięci.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2011680" y="5074920"/>
            <a:ext cx="8138160" cy="1097280"/>
          </a:xfrm>
          <a:prstGeom prst="roundRect">
            <a:avLst>
              <a:gd name="adj" fmla="val 15000"/>
            </a:avLst>
          </a:prstGeom>
          <a:solidFill>
            <a:srgbClr val="F0EDF6"/>
          </a:solidFill>
          <a:ln w="12700">
            <a:solidFill>
              <a:srgbClr val="F0EDF6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2286000" y="516636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3E6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Mniej zgadywania na wizycie, więcej rozmowy o tym, co naprawdę się wydarzyło.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F7A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0368" y="822960"/>
            <a:ext cx="1737360" cy="1737360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debian/.cache/mediculus-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08" y="91440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288036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Dziękujemy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931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Zapraszamy do wspólnego przejścia przez aplikację na żywo.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566160" y="4983480"/>
            <a:ext cx="1600200" cy="548640"/>
          </a:xfrm>
          <a:prstGeom prst="roundRect">
            <a:avLst>
              <a:gd name="adj" fmla="val 50000"/>
            </a:avLst>
          </a:prstGeom>
          <a:solidFill>
            <a:srgbClr val="3E6150"/>
          </a:solidFill>
          <a:ln w="12700">
            <a:solidFill>
              <a:srgbClr val="DCE9E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566160" y="49834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Zapisuj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349240" y="4983480"/>
            <a:ext cx="1600200" cy="548640"/>
          </a:xfrm>
          <a:prstGeom prst="roundRect">
            <a:avLst>
              <a:gd name="adj" fmla="val 50000"/>
            </a:avLst>
          </a:prstGeom>
          <a:solidFill>
            <a:srgbClr val="3E6150"/>
          </a:solidFill>
          <a:ln w="12700">
            <a:solidFill>
              <a:srgbClr val="DCE9E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49240" y="49834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Rozumiej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132320" y="4983480"/>
            <a:ext cx="1600200" cy="548640"/>
          </a:xfrm>
          <a:prstGeom prst="roundRect">
            <a:avLst>
              <a:gd name="adj" fmla="val 50000"/>
            </a:avLst>
          </a:prstGeom>
          <a:solidFill>
            <a:srgbClr val="3E6150"/>
          </a:solidFill>
          <a:ln w="12700">
            <a:solidFill>
              <a:srgbClr val="DCE9E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132320" y="49834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Działaj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Fundacja Mediculus  ·  Opieka i wiele więcej.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Mediculus — prezentacja aplikacji</dc:title>
  <dc:subject>PptxGenJS Presentation</dc:subject>
  <dc:creator>Fundacja Mediculus</dc:creator>
  <cp:lastModifiedBy>Fundacja Mediculus</cp:lastModifiedBy>
  <cp:revision>1</cp:revision>
  <dcterms:created xsi:type="dcterms:W3CDTF">2026-09-30T14:13:08Z</dcterms:created>
  <dcterms:modified xsi:type="dcterms:W3CDTF">2026-09-30T14:13:08Z</dcterms:modified>
</cp:coreProperties>
</file>